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Garamond" panose="02020404030301010803" pitchFamily="18" charset="0"/>
      <p:regular r:id="rId12"/>
      <p:bold r:id="rId13"/>
      <p:italic r:id="rId14"/>
    </p:embeddedFont>
    <p:embeddedFont>
      <p:font typeface="In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77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6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8326" y="1651621"/>
            <a:ext cx="7669985" cy="15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  <a:ea typeface="Inter" panose="020B0604020202020204" charset="0"/>
              </a:rPr>
              <a:t>“</a:t>
            </a:r>
            <a:r>
              <a:rPr lang="en-US" sz="2400" b="1" dirty="0" err="1">
                <a:latin typeface="Garamond" panose="02020404030301010803" pitchFamily="18" charset="0"/>
                <a:ea typeface="Inter" panose="020B0604020202020204" charset="0"/>
              </a:rPr>
              <a:t>ServEase:A</a:t>
            </a:r>
            <a:r>
              <a:rPr lang="en-US" sz="2400" b="1" dirty="0">
                <a:latin typeface="Garamond" panose="02020404030301010803" pitchFamily="18" charset="0"/>
                <a:ea typeface="Inter" panose="020B0604020202020204" charset="0"/>
              </a:rPr>
              <a:t> Scalable Platform for Aggregation of 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  <a:ea typeface="Inter" panose="020B0604020202020204" charset="0"/>
              </a:rPr>
              <a:t>Local Skilled Workforce Services”</a:t>
            </a:r>
            <a:endParaRPr lang="en-US" sz="5400" dirty="0">
              <a:latin typeface="Garamond" panose="02020404030301010803" pitchFamily="18" charset="0"/>
              <a:ea typeface="Inter" panose="020B0604020202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4780" y="5786552"/>
            <a:ext cx="7556421" cy="1980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Team Members:</a:t>
            </a:r>
          </a:p>
          <a:p>
            <a:pPr marL="342900" indent="-342900" algn="l">
              <a:lnSpc>
                <a:spcPts val="2850"/>
              </a:lnSpc>
              <a:buFont typeface="+mj-lt"/>
              <a:buAutoNum type="arabicPeriod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ANAND ASHOK KANCHALAKAI [1VJ23CI003]</a:t>
            </a:r>
          </a:p>
          <a:p>
            <a:pPr marL="342900" indent="-342900" algn="l">
              <a:lnSpc>
                <a:spcPts val="2850"/>
              </a:lnSpc>
              <a:buFont typeface="+mj-lt"/>
              <a:buAutoNum type="arabicPeriod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BHAGYESH [1VJ23CI008]</a:t>
            </a:r>
          </a:p>
          <a:p>
            <a:pPr marL="342900" indent="-342900" algn="l">
              <a:lnSpc>
                <a:spcPts val="2850"/>
              </a:lnSpc>
              <a:buFont typeface="+mj-lt"/>
              <a:buAutoNum type="arabicPeriod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DARSHAN S G [1VJ23CI014]</a:t>
            </a:r>
          </a:p>
          <a:p>
            <a:pPr marL="342900" indent="-342900" algn="l">
              <a:lnSpc>
                <a:spcPts val="2850"/>
              </a:lnSpc>
              <a:buFont typeface="+mj-lt"/>
              <a:buAutoNum type="arabicPeriod"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JAGANNATH BISWAS [1VJ23CI021]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8331" y="3725446"/>
            <a:ext cx="31091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Guide: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Prof. William Deepan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Dept. of CSE(AIML)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>
            <a:extLst>
              <a:ext uri="{FF2B5EF4-FFF2-40B4-BE49-F238E27FC236}">
                <a16:creationId xmlns:a16="http://schemas.microsoft.com/office/drawing/2014/main" id="{F4135E3A-6DE5-54B3-4A0B-870AA48AF18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1306" y="498435"/>
            <a:ext cx="654050" cy="6540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722E69-5022-0785-3C73-B6951EC4C6A0}"/>
              </a:ext>
            </a:extLst>
          </p:cNvPr>
          <p:cNvSpPr txBox="1"/>
          <p:nvPr/>
        </p:nvSpPr>
        <p:spPr>
          <a:xfrm>
            <a:off x="1024780" y="438566"/>
            <a:ext cx="826380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Inter" panose="020B0604020202020204" charset="0"/>
                <a:ea typeface="Inter" panose="020B0604020202020204" charset="0"/>
              </a:rPr>
              <a:t>VIJAYA VITTALA INSTITUTE OF TECHNOLOGY</a:t>
            </a:r>
            <a:endParaRPr lang="en-IN" sz="2800" b="1" dirty="0">
              <a:latin typeface="Inter" panose="020B0604020202020204" charset="0"/>
              <a:ea typeface="Inter" panose="020B0604020202020204" charset="0"/>
            </a:endParaRPr>
          </a:p>
          <a:p>
            <a:r>
              <a:rPr lang="en-IN" sz="2800" b="1" dirty="0">
                <a:latin typeface="Inter" panose="020B0604020202020204" charset="0"/>
                <a:ea typeface="Inter" panose="020B0604020202020204" charset="0"/>
              </a:rPr>
              <a:t>  </a:t>
            </a:r>
            <a:r>
              <a:rPr lang="en-IN" sz="1600" b="1" dirty="0">
                <a:latin typeface="Inter" panose="020B0604020202020204" charset="0"/>
                <a:ea typeface="Inter" panose="020B0604020202020204" charset="0"/>
              </a:rPr>
              <a:t>           </a:t>
            </a:r>
            <a:r>
              <a:rPr lang="en-US" sz="1600" dirty="0"/>
              <a:t>#35/1,Dodda Gubbi Post, Hennur-</a:t>
            </a:r>
            <a:r>
              <a:rPr lang="en-US" sz="1600" dirty="0" err="1"/>
              <a:t>Bagalur</a:t>
            </a:r>
            <a:r>
              <a:rPr lang="en-US" sz="1600" dirty="0"/>
              <a:t> Road,Bengaluru-560077</a:t>
            </a:r>
            <a:endParaRPr lang="en-IN" sz="1600" dirty="0"/>
          </a:p>
          <a:p>
            <a:endParaRPr lang="en-IN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9CF372F-A592-A999-9A04-290C80F1EFF5}"/>
              </a:ext>
            </a:extLst>
          </p:cNvPr>
          <p:cNvSpPr/>
          <p:nvPr/>
        </p:nvSpPr>
        <p:spPr>
          <a:xfrm>
            <a:off x="5156680" y="3337938"/>
            <a:ext cx="31091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Dr. Naveen Ghorpade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Professor &amp; HOD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Dept. of CSE(AIML)</a:t>
            </a:r>
            <a:endParaRPr 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35" y="882015"/>
            <a:ext cx="5548313" cy="693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Abstract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35" y="2274094"/>
            <a:ext cx="8367593" cy="46702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07629" y="2069663"/>
            <a:ext cx="45720" cy="1678662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2"/>
          <p:cNvSpPr/>
          <p:nvPr/>
        </p:nvSpPr>
        <p:spPr>
          <a:xfrm>
            <a:off x="9887545" y="2092523"/>
            <a:ext cx="4010620" cy="1632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Informal workforce markets lack digital trust mechanisms and structured job allocation systems, leading to inefficiencies and exploitation.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607629" y="4096464"/>
            <a:ext cx="45720" cy="1352074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7" name="Text 4"/>
          <p:cNvSpPr/>
          <p:nvPr/>
        </p:nvSpPr>
        <p:spPr>
          <a:xfrm>
            <a:off x="9887545" y="4119324"/>
            <a:ext cx="4010620" cy="130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intelligent platform integrating hybrid recommendation algorithms, trust scoring, and fraud detection for equitable job matching.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607629" y="5796677"/>
            <a:ext cx="45720" cy="1352074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6"/>
          <p:cNvSpPr/>
          <p:nvPr/>
        </p:nvSpPr>
        <p:spPr>
          <a:xfrm>
            <a:off x="9887545" y="5819537"/>
            <a:ext cx="4010620" cy="130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Innovation: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Combines TF-IDF-based skill matching with geospatial allocation and machine learning-driven trust verification.</a:t>
            </a:r>
            <a:endParaRPr lang="en-US" sz="16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CB240D-1289-4891-2A96-4EF3BAAF9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9298" y="7584020"/>
            <a:ext cx="1851102" cy="525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86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1999" y="3655933"/>
            <a:ext cx="5640824" cy="70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51999" y="4666297"/>
            <a:ext cx="4239816" cy="2593419"/>
          </a:xfrm>
          <a:prstGeom prst="roundRect">
            <a:avLst>
              <a:gd name="adj" fmla="val 348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4408" y="4888706"/>
            <a:ext cx="2966085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Economic Significance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74408" y="5363289"/>
            <a:ext cx="3794998" cy="16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informal workforce constitutes over 60% of employment in developing economies, contributing significantly to GDP yet remaining underserved by digital infrastructure.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195292" y="4666297"/>
            <a:ext cx="4239816" cy="2593419"/>
          </a:xfrm>
          <a:prstGeom prst="roundRect">
            <a:avLst>
              <a:gd name="adj" fmla="val 348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7701" y="4888706"/>
            <a:ext cx="2820353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Systemic Challenges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17701" y="5363289"/>
            <a:ext cx="3794998" cy="16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job systems lack transparency, verification mechanisms, and efficient matching algorithms, resulting in wage exploitation and underemployment.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38586" y="4666297"/>
            <a:ext cx="4239816" cy="2593419"/>
          </a:xfrm>
          <a:prstGeom prst="roundRect">
            <a:avLst>
              <a:gd name="adj" fmla="val 348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60994" y="4888706"/>
            <a:ext cx="3728680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Digital Transformation Need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0994" y="5363289"/>
            <a:ext cx="3794998" cy="16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Digitizing informal labor markets through intelligent platforms can establish trust, optimize resource allocation, and protect vulnerable workers.</a:t>
            </a:r>
            <a:endParaRPr lang="en-US" sz="16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3AAF06-9F9F-FD8E-5DC0-516376851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0449" y="7604411"/>
            <a:ext cx="1839951" cy="522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3348" y="1236585"/>
            <a:ext cx="6241852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 &amp; Objectives</a:t>
            </a:r>
            <a:endParaRPr lang="en-US" sz="33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6286517-7B05-A94A-7E47-E1AD503B1396}"/>
              </a:ext>
            </a:extLst>
          </p:cNvPr>
          <p:cNvGrpSpPr/>
          <p:nvPr/>
        </p:nvGrpSpPr>
        <p:grpSpPr>
          <a:xfrm>
            <a:off x="1283570" y="2417070"/>
            <a:ext cx="5346025" cy="1834553"/>
            <a:chOff x="1773198" y="2150269"/>
            <a:chExt cx="5346025" cy="1834553"/>
          </a:xfrm>
        </p:grpSpPr>
        <p:sp>
          <p:nvSpPr>
            <p:cNvPr id="3" name="Text 1"/>
            <p:cNvSpPr/>
            <p:nvPr/>
          </p:nvSpPr>
          <p:spPr>
            <a:xfrm>
              <a:off x="1773198" y="2150269"/>
              <a:ext cx="2529959" cy="3162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Core Problem</a:t>
              </a:r>
              <a:endParaRPr lang="en-US" sz="195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1773198" y="2580203"/>
              <a:ext cx="5346025" cy="1404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Informal workers face trust deficits, skill-job mismatches, geographical inefficiencies, and vulnerability to fraud in unstructured labor markets</a:t>
              </a:r>
              <a:r>
                <a:rPr lang="en-US" sz="12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.</a:t>
              </a:r>
              <a:endParaRPr lang="en-US" sz="1250" dirty="0"/>
            </a:p>
          </p:txBody>
        </p:sp>
      </p:grpSp>
      <p:sp>
        <p:nvSpPr>
          <p:cNvPr id="5" name="Shape 3"/>
          <p:cNvSpPr/>
          <p:nvPr/>
        </p:nvSpPr>
        <p:spPr>
          <a:xfrm>
            <a:off x="1283569" y="4372868"/>
            <a:ext cx="5346025" cy="27623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6BD626-3038-BE41-B5B9-185037D83966}"/>
              </a:ext>
            </a:extLst>
          </p:cNvPr>
          <p:cNvGrpSpPr/>
          <p:nvPr/>
        </p:nvGrpSpPr>
        <p:grpSpPr>
          <a:xfrm>
            <a:off x="1283570" y="4731240"/>
            <a:ext cx="5346025" cy="2063723"/>
            <a:chOff x="1773198" y="3602117"/>
            <a:chExt cx="5346025" cy="2063723"/>
          </a:xfrm>
        </p:grpSpPr>
        <p:sp>
          <p:nvSpPr>
            <p:cNvPr id="6" name="Text 4"/>
            <p:cNvSpPr/>
            <p:nvPr/>
          </p:nvSpPr>
          <p:spPr>
            <a:xfrm>
              <a:off x="1773198" y="3602117"/>
              <a:ext cx="2108359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Existing System Gaps</a:t>
              </a:r>
              <a:endParaRPr lang="en-US" sz="165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773198" y="3979307"/>
              <a:ext cx="5346025" cy="16865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272525"/>
                  </a:solidFill>
                  <a:latin typeface="Inter" panose="020B0604020202020204" charset="0"/>
                  <a:ea typeface="Inter" panose="020B0604020202020204" charset="0"/>
                  <a:cs typeface="Inter" pitchFamily="34" charset="-120"/>
                </a:rPr>
                <a:t>No verification or trust scoring mechanisms</a:t>
              </a:r>
              <a:endParaRPr lang="en-US" sz="1600" dirty="0">
                <a:latin typeface="Inter" panose="020B0604020202020204" charset="0"/>
                <a:ea typeface="Inter" panose="020B0604020202020204" charset="0"/>
              </a:endParaRPr>
            </a:p>
            <a:p>
              <a:pPr marL="342900" indent="-34290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272525"/>
                  </a:solidFill>
                  <a:latin typeface="Inter" panose="020B0604020202020204" charset="0"/>
                  <a:ea typeface="Inter" panose="020B0604020202020204" charset="0"/>
                  <a:cs typeface="Inter" pitchFamily="34" charset="-120"/>
                </a:rPr>
                <a:t>Manual job allocation without intelligent matching</a:t>
              </a:r>
              <a:endParaRPr lang="en-US" sz="1600" dirty="0">
                <a:latin typeface="Inter" panose="020B0604020202020204" charset="0"/>
                <a:ea typeface="Inter" panose="020B0604020202020204" charset="0"/>
              </a:endParaRPr>
            </a:p>
            <a:p>
              <a:pPr marL="342900" indent="-34290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272525"/>
                  </a:solidFill>
                  <a:latin typeface="Inter" panose="020B0604020202020204" charset="0"/>
                  <a:ea typeface="Inter" panose="020B0604020202020204" charset="0"/>
                  <a:cs typeface="Inter" pitchFamily="34" charset="-120"/>
                </a:rPr>
                <a:t>Absence of fraud detection systems</a:t>
              </a:r>
              <a:endParaRPr lang="en-US" sz="1600" dirty="0">
                <a:latin typeface="Inter" panose="020B0604020202020204" charset="0"/>
                <a:ea typeface="Inter" panose="020B0604020202020204" charset="0"/>
              </a:endParaRPr>
            </a:p>
            <a:p>
              <a:pPr marL="342900" indent="-342900" algn="l">
                <a:lnSpc>
                  <a:spcPct val="15000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272525"/>
                  </a:solidFill>
                  <a:latin typeface="Inter" panose="020B0604020202020204" charset="0"/>
                  <a:ea typeface="Inter" panose="020B0604020202020204" charset="0"/>
                  <a:cs typeface="Inter" pitchFamily="34" charset="-120"/>
                </a:rPr>
                <a:t>Limited geographical optimization</a:t>
              </a:r>
              <a:endParaRPr lang="en-US" sz="1600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7422B1-CB94-F3B7-257C-3175B19EADE5}"/>
              </a:ext>
            </a:extLst>
          </p:cNvPr>
          <p:cNvGrpSpPr/>
          <p:nvPr/>
        </p:nvGrpSpPr>
        <p:grpSpPr>
          <a:xfrm>
            <a:off x="7665779" y="1101625"/>
            <a:ext cx="5849499" cy="6042516"/>
            <a:chOff x="7403068" y="2036564"/>
            <a:chExt cx="5577483" cy="4854059"/>
          </a:xfrm>
        </p:grpSpPr>
        <p:sp>
          <p:nvSpPr>
            <p:cNvPr id="8" name="Shape 6"/>
            <p:cNvSpPr/>
            <p:nvPr/>
          </p:nvSpPr>
          <p:spPr>
            <a:xfrm>
              <a:off x="7403068" y="2036564"/>
              <a:ext cx="5577483" cy="4854059"/>
            </a:xfrm>
            <a:prstGeom prst="roundRect">
              <a:avLst>
                <a:gd name="adj" fmla="val 2383"/>
              </a:avLst>
            </a:prstGeom>
            <a:solidFill>
              <a:srgbClr val="007EBD">
                <a:alpha val="95000"/>
              </a:srgbClr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7563683" y="2150269"/>
              <a:ext cx="2529959" cy="3162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Project Objectives</a:t>
              </a:r>
              <a:endParaRPr lang="en-US" sz="195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7563683" y="2594372"/>
              <a:ext cx="361355" cy="361355"/>
            </a:xfrm>
            <a:prstGeom prst="roundRect">
              <a:avLst>
                <a:gd name="adj" fmla="val 18671"/>
              </a:avLst>
            </a:prstGeom>
            <a:solidFill>
              <a:srgbClr val="CCEEFF"/>
            </a:solidFill>
            <a:ln w="7620">
              <a:solidFill>
                <a:srgbClr val="B2D4E5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617857" y="2616875"/>
              <a:ext cx="252889" cy="3162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1</a:t>
              </a:r>
              <a:endParaRPr lang="en-US" sz="19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038743" y="2649498"/>
              <a:ext cx="2415778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Worker-Centric Platform</a:t>
              </a:r>
              <a:endParaRPr lang="en-US" sz="165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8038743" y="3026688"/>
              <a:ext cx="4781193" cy="2194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Empowerment through digital profiles and skill verification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563683" y="3473529"/>
              <a:ext cx="361355" cy="361355"/>
            </a:xfrm>
            <a:prstGeom prst="roundRect">
              <a:avLst>
                <a:gd name="adj" fmla="val 18671"/>
              </a:avLst>
            </a:prstGeom>
            <a:solidFill>
              <a:srgbClr val="CCEEFF"/>
            </a:solidFill>
            <a:ln w="7620">
              <a:solidFill>
                <a:srgbClr val="B2D4E5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7617857" y="3496032"/>
              <a:ext cx="252889" cy="3162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2</a:t>
              </a:r>
              <a:endParaRPr lang="en-US" sz="19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038743" y="3528655"/>
              <a:ext cx="3166824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Hybrid Recommendation Engine</a:t>
              </a:r>
              <a:endParaRPr lang="en-US" sz="165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8038743" y="3905845"/>
              <a:ext cx="4781193" cy="2194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TF-IDF and cosine similarity for accurate matching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563683" y="4352687"/>
              <a:ext cx="361355" cy="361355"/>
            </a:xfrm>
            <a:prstGeom prst="roundRect">
              <a:avLst>
                <a:gd name="adj" fmla="val 18671"/>
              </a:avLst>
            </a:prstGeom>
            <a:solidFill>
              <a:srgbClr val="CCEEFF"/>
            </a:solidFill>
            <a:ln w="7620">
              <a:solidFill>
                <a:srgbClr val="B2D4E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7617857" y="4375190"/>
              <a:ext cx="252889" cy="3162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3</a:t>
              </a:r>
              <a:endParaRPr lang="en-US" sz="19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038743" y="4407813"/>
              <a:ext cx="2222302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Dynamic Trust Scoring</a:t>
              </a:r>
              <a:endParaRPr lang="en-US" sz="165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8038743" y="4785003"/>
              <a:ext cx="4781193" cy="2194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Reputation system based on performance history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563683" y="5231844"/>
              <a:ext cx="361355" cy="361355"/>
            </a:xfrm>
            <a:prstGeom prst="roundRect">
              <a:avLst>
                <a:gd name="adj" fmla="val 18671"/>
              </a:avLst>
            </a:prstGeom>
            <a:solidFill>
              <a:srgbClr val="CCEEFF"/>
            </a:solidFill>
            <a:ln w="7620">
              <a:solidFill>
                <a:srgbClr val="B2D4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617857" y="5254347"/>
              <a:ext cx="252889" cy="3162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4</a:t>
              </a:r>
              <a:endParaRPr lang="en-US" sz="19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038743" y="5286970"/>
              <a:ext cx="2355771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Geospatial Optimization</a:t>
              </a:r>
              <a:endParaRPr lang="en-US" sz="165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8038743" y="5664160"/>
              <a:ext cx="4781193" cy="2194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Haversine algorithm for proximity-based allocation</a:t>
              </a:r>
              <a:endParaRPr lang="en-US" sz="14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563683" y="6111002"/>
              <a:ext cx="361355" cy="361355"/>
            </a:xfrm>
            <a:prstGeom prst="roundRect">
              <a:avLst>
                <a:gd name="adj" fmla="val 18671"/>
              </a:avLst>
            </a:prstGeom>
            <a:solidFill>
              <a:srgbClr val="CCEEFF"/>
            </a:solidFill>
            <a:ln w="7620">
              <a:solidFill>
                <a:srgbClr val="B2D4E5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7617857" y="6133505"/>
              <a:ext cx="252889" cy="3162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950" b="1" dirty="0">
                  <a:solidFill>
                    <a:srgbClr val="000000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5</a:t>
              </a:r>
              <a:endParaRPr lang="en-US" sz="19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038743" y="6166128"/>
              <a:ext cx="2108359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Fraud Detection</a:t>
              </a:r>
              <a:endParaRPr lang="en-US" sz="165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8038743" y="6543318"/>
              <a:ext cx="4781193" cy="2194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Isolation Forest ML for anomaly identification</a:t>
              </a:r>
              <a:endParaRPr lang="en-US" sz="1400" dirty="0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1B391C03-E9F8-11E9-FE3F-F321B2B0C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965" y="7272931"/>
            <a:ext cx="3406435" cy="967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909" y="1194792"/>
            <a:ext cx="4958001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Literature Survey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8909" y="2128957"/>
            <a:ext cx="3140154" cy="4905851"/>
          </a:xfrm>
          <a:prstGeom prst="roundRect">
            <a:avLst>
              <a:gd name="adj" fmla="val 252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1769" y="2151817"/>
            <a:ext cx="3094434" cy="566618"/>
          </a:xfrm>
          <a:prstGeom prst="roundRect">
            <a:avLst>
              <a:gd name="adj" fmla="val 9159"/>
            </a:avLst>
          </a:prstGeom>
          <a:solidFill>
            <a:srgbClr val="CCEEFF"/>
          </a:solidFill>
          <a:ln/>
        </p:spPr>
      </p:sp>
      <p:sp>
        <p:nvSpPr>
          <p:cNvPr id="5" name="Text 3"/>
          <p:cNvSpPr/>
          <p:nvPr/>
        </p:nvSpPr>
        <p:spPr>
          <a:xfrm>
            <a:off x="2227302" y="2254210"/>
            <a:ext cx="283250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0603" y="2875597"/>
            <a:ext cx="2716768" cy="61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Content-Based Job Recommendation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0603" y="3494001"/>
            <a:ext cx="2716768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IN" sz="1600" b="1" dirty="0"/>
              <a:t>Y. Zhu et al.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(2022)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"</a:t>
            </a: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Hybrid model combining content-based filtering and collaborative profile features.</a:t>
            </a:r>
            <a:r>
              <a:rPr lang="en-US" sz="1600" dirty="0"/>
              <a:t> 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10603" y="4791075"/>
            <a:ext cx="271676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Transactions on Computational Intelligence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10603" y="5439013"/>
            <a:ext cx="2716768" cy="13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83.3% matching accuracy using natural language processing for skill extraction and vector space modeling.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096226" y="2128957"/>
            <a:ext cx="3140273" cy="4905851"/>
          </a:xfrm>
          <a:prstGeom prst="roundRect">
            <a:avLst>
              <a:gd name="adj" fmla="val 252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9086" y="2151817"/>
            <a:ext cx="3094553" cy="566618"/>
          </a:xfrm>
          <a:prstGeom prst="roundRect">
            <a:avLst>
              <a:gd name="adj" fmla="val 9159"/>
            </a:avLst>
          </a:prstGeom>
          <a:solidFill>
            <a:srgbClr val="CCEEFF"/>
          </a:solidFill>
          <a:ln/>
        </p:spPr>
      </p:sp>
      <p:sp>
        <p:nvSpPr>
          <p:cNvPr id="12" name="Text 10"/>
          <p:cNvSpPr/>
          <p:nvPr/>
        </p:nvSpPr>
        <p:spPr>
          <a:xfrm>
            <a:off x="5524738" y="2254210"/>
            <a:ext cx="283250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07919" y="2875597"/>
            <a:ext cx="2716887" cy="61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Trust and Reputation Systems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307919" y="3589496"/>
            <a:ext cx="2716887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Wang et al. (2020)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"Dynamic Trust Score Computation in Peer-to-Peer Platforms"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07919" y="4791075"/>
            <a:ext cx="271688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Access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07919" y="5162193"/>
            <a:ext cx="2716887" cy="13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weighted trust models incorporating completion rates, feedback scores, and temporal factors with 83% reliability prediction.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93662" y="2128957"/>
            <a:ext cx="3140273" cy="4905851"/>
          </a:xfrm>
          <a:prstGeom prst="roundRect">
            <a:avLst>
              <a:gd name="adj" fmla="val 252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6522" y="2151817"/>
            <a:ext cx="3094553" cy="566618"/>
          </a:xfrm>
          <a:prstGeom prst="roundRect">
            <a:avLst>
              <a:gd name="adj" fmla="val 9159"/>
            </a:avLst>
          </a:prstGeom>
          <a:solidFill>
            <a:srgbClr val="CCEEFF"/>
          </a:solidFill>
          <a:ln/>
        </p:spPr>
      </p:sp>
      <p:sp>
        <p:nvSpPr>
          <p:cNvPr id="19" name="Text 17"/>
          <p:cNvSpPr/>
          <p:nvPr/>
        </p:nvSpPr>
        <p:spPr>
          <a:xfrm>
            <a:off x="8822174" y="2254210"/>
            <a:ext cx="283250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05355" y="2875597"/>
            <a:ext cx="2716887" cy="61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Geospatial Task Allocation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605355" y="3589496"/>
            <a:ext cx="2716887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Chen &amp; Liu (2020)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"Haversine-Based Spatial Crowdsourcing Optimization"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05355" y="4514255"/>
            <a:ext cx="271688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Systems Journal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05355" y="4885373"/>
            <a:ext cx="2716887" cy="13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14% efficiency improvement in task assignment using distance-based worker selection algorithms.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0691098" y="2128957"/>
            <a:ext cx="3140273" cy="4905851"/>
          </a:xfrm>
          <a:prstGeom prst="roundRect">
            <a:avLst>
              <a:gd name="adj" fmla="val 252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13958" y="2151817"/>
            <a:ext cx="3094553" cy="566618"/>
          </a:xfrm>
          <a:prstGeom prst="roundRect">
            <a:avLst>
              <a:gd name="adj" fmla="val 9159"/>
            </a:avLst>
          </a:prstGeom>
          <a:solidFill>
            <a:srgbClr val="CCEEFF"/>
          </a:solidFill>
          <a:ln/>
        </p:spPr>
      </p:sp>
      <p:sp>
        <p:nvSpPr>
          <p:cNvPr id="26" name="Text 24"/>
          <p:cNvSpPr/>
          <p:nvPr/>
        </p:nvSpPr>
        <p:spPr>
          <a:xfrm>
            <a:off x="12119610" y="2254210"/>
            <a:ext cx="283250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02791" y="2875597"/>
            <a:ext cx="2716887" cy="61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Anomaly Detection in Platforms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902791" y="3589496"/>
            <a:ext cx="2716887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IN" sz="1600" b="1" dirty="0"/>
              <a:t>H. </a:t>
            </a:r>
            <a:r>
              <a:rPr lang="en-IN" sz="1600" b="1" dirty="0" err="1"/>
              <a:t>Xung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al. (2023)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"</a:t>
            </a:r>
            <a:r>
              <a:rPr lang="en-IN" sz="1600" dirty="0"/>
              <a:t>Local outlier Factor(LOF)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Fraud Detection in Gig Economy Platforms"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0902791" y="4791075"/>
            <a:ext cx="271688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Security &amp; Privacy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0902791" y="5162193"/>
            <a:ext cx="2716887" cy="13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AUC of 0.79 in identifying fraudulent behavior patterns using unsupervised machine learning.</a:t>
            </a:r>
            <a:endParaRPr lang="en-US" sz="14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BED1989-D1FF-FE37-1116-7FA40C4C0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965" y="7191970"/>
            <a:ext cx="3406435" cy="9678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231" y="1126983"/>
            <a:ext cx="7657203" cy="423469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9C4B9C43-8BE1-44AC-FF5F-201DF4B12771}"/>
              </a:ext>
            </a:extLst>
          </p:cNvPr>
          <p:cNvGrpSpPr/>
          <p:nvPr/>
        </p:nvGrpSpPr>
        <p:grpSpPr>
          <a:xfrm>
            <a:off x="3542966" y="1821606"/>
            <a:ext cx="7466382" cy="2580816"/>
            <a:chOff x="3542966" y="1821606"/>
            <a:chExt cx="7466382" cy="2580816"/>
          </a:xfrm>
        </p:grpSpPr>
        <p:sp>
          <p:nvSpPr>
            <p:cNvPr id="4" name="Text 1"/>
            <p:cNvSpPr/>
            <p:nvPr/>
          </p:nvSpPr>
          <p:spPr>
            <a:xfrm>
              <a:off x="3542966" y="1821606"/>
              <a:ext cx="1806374" cy="2526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Register &amp; Verify</a:t>
              </a:r>
              <a:endParaRPr lang="en-US" sz="1550" dirty="0"/>
            </a:p>
          </p:txBody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7150" y="2555759"/>
              <a:ext cx="427766" cy="427766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4808217" y="3597782"/>
              <a:ext cx="1806374" cy="2526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TF‑IDF Match</a:t>
              </a:r>
              <a:endParaRPr lang="en-US" sz="1550" dirty="0"/>
            </a:p>
          </p:txBody>
        </p:sp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79665" y="2816562"/>
              <a:ext cx="427766" cy="427766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6347505" y="2052199"/>
              <a:ext cx="1865058" cy="2526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Trust Score</a:t>
              </a:r>
              <a:endParaRPr lang="en-US" sz="1550" dirty="0"/>
            </a:p>
          </p:txBody>
        </p:sp>
        <p:pic>
          <p:nvPicPr>
            <p:cNvPr id="9" name="Image 3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931939" y="3077366"/>
              <a:ext cx="427766" cy="427766"/>
            </a:xfrm>
            <a:prstGeom prst="rect">
              <a:avLst/>
            </a:prstGeom>
          </p:spPr>
        </p:pic>
        <p:sp>
          <p:nvSpPr>
            <p:cNvPr id="10" name="Text 4"/>
            <p:cNvSpPr/>
            <p:nvPr/>
          </p:nvSpPr>
          <p:spPr>
            <a:xfrm>
              <a:off x="7549660" y="4149773"/>
              <a:ext cx="1806374" cy="2526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Geo Filter</a:t>
              </a:r>
              <a:endParaRPr lang="en-US" sz="1550" dirty="0"/>
            </a:p>
          </p:txBody>
        </p:sp>
        <p:pic>
          <p:nvPicPr>
            <p:cNvPr id="11" name="Image 4" descr="preencoded.png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84080" y="3338169"/>
              <a:ext cx="427766" cy="427766"/>
            </a:xfrm>
            <a:prstGeom prst="rect">
              <a:avLst/>
            </a:prstGeom>
          </p:spPr>
        </p:pic>
        <p:sp>
          <p:nvSpPr>
            <p:cNvPr id="12" name="Text 5"/>
            <p:cNvSpPr/>
            <p:nvPr/>
          </p:nvSpPr>
          <p:spPr>
            <a:xfrm>
              <a:off x="9202973" y="2555759"/>
              <a:ext cx="1806375" cy="2526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Fraud Detection</a:t>
              </a:r>
              <a:endParaRPr lang="en-US" sz="1550" dirty="0"/>
            </a:p>
          </p:txBody>
        </p:sp>
        <p:pic>
          <p:nvPicPr>
            <p:cNvPr id="13" name="Image 5" descr="preencoded.png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23244" y="3618222"/>
              <a:ext cx="427766" cy="427765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483D569-7CA6-672A-0C1E-D754465445E1}"/>
              </a:ext>
            </a:extLst>
          </p:cNvPr>
          <p:cNvGrpSpPr/>
          <p:nvPr/>
        </p:nvGrpSpPr>
        <p:grpSpPr>
          <a:xfrm>
            <a:off x="2007220" y="4911643"/>
            <a:ext cx="10426389" cy="2878735"/>
            <a:chOff x="3037403" y="5799415"/>
            <a:chExt cx="8555475" cy="1990963"/>
          </a:xfrm>
        </p:grpSpPr>
        <p:sp>
          <p:nvSpPr>
            <p:cNvPr id="14" name="Text 6"/>
            <p:cNvSpPr/>
            <p:nvPr/>
          </p:nvSpPr>
          <p:spPr>
            <a:xfrm>
              <a:off x="3037403" y="5799415"/>
              <a:ext cx="123944" cy="154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Petrona Light" pitchFamily="34" charset="0"/>
                  <a:ea typeface="Petrona Light" pitchFamily="34" charset="-122"/>
                  <a:cs typeface="Petrona Light" pitchFamily="34" charset="-120"/>
                </a:rPr>
                <a:t>01</a:t>
              </a:r>
              <a:endParaRPr lang="en-US" sz="950" dirty="0"/>
            </a:p>
          </p:txBody>
        </p:sp>
        <p:sp>
          <p:nvSpPr>
            <p:cNvPr id="15" name="Shape 7"/>
            <p:cNvSpPr/>
            <p:nvPr/>
          </p:nvSpPr>
          <p:spPr>
            <a:xfrm>
              <a:off x="3037403" y="5994797"/>
              <a:ext cx="2806660" cy="15240"/>
            </a:xfrm>
            <a:prstGeom prst="rect">
              <a:avLst/>
            </a:prstGeom>
            <a:solidFill>
              <a:srgbClr val="007EBD"/>
            </a:solidFill>
            <a:ln/>
          </p:spPr>
        </p:sp>
        <p:sp>
          <p:nvSpPr>
            <p:cNvPr id="16" name="Text 8"/>
            <p:cNvSpPr/>
            <p:nvPr/>
          </p:nvSpPr>
          <p:spPr>
            <a:xfrm>
              <a:off x="3037403" y="6087189"/>
              <a:ext cx="2003107" cy="2033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b="1" dirty="0">
                  <a:solidFill>
                    <a:srgbClr val="272525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Registration &amp; Verification</a:t>
              </a: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7" name="Text 9"/>
            <p:cNvSpPr/>
            <p:nvPr/>
          </p:nvSpPr>
          <p:spPr>
            <a:xfrm>
              <a:off x="3037403" y="6331148"/>
              <a:ext cx="2806660" cy="620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Workers create digital profiles with skill documentation; employers post job requirements with detailed specifications.</a:t>
              </a:r>
              <a:endParaRPr lang="en-US" sz="1400" dirty="0"/>
            </a:p>
          </p:txBody>
        </p:sp>
        <p:sp>
          <p:nvSpPr>
            <p:cNvPr id="18" name="Text 10"/>
            <p:cNvSpPr/>
            <p:nvPr/>
          </p:nvSpPr>
          <p:spPr>
            <a:xfrm>
              <a:off x="5911810" y="5799415"/>
              <a:ext cx="123944" cy="154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Petrona Light" pitchFamily="34" charset="0"/>
                  <a:ea typeface="Petrona Light" pitchFamily="34" charset="-122"/>
                  <a:cs typeface="Petrona Light" pitchFamily="34" charset="-120"/>
                </a:rPr>
                <a:t>02</a:t>
              </a:r>
              <a:endParaRPr lang="en-US" sz="950" dirty="0"/>
            </a:p>
          </p:txBody>
        </p:sp>
        <p:sp>
          <p:nvSpPr>
            <p:cNvPr id="19" name="Shape 11"/>
            <p:cNvSpPr/>
            <p:nvPr/>
          </p:nvSpPr>
          <p:spPr>
            <a:xfrm>
              <a:off x="5911810" y="5994797"/>
              <a:ext cx="2806660" cy="15240"/>
            </a:xfrm>
            <a:prstGeom prst="rect">
              <a:avLst/>
            </a:prstGeom>
            <a:solidFill>
              <a:srgbClr val="007EBD"/>
            </a:solidFill>
            <a:ln/>
          </p:spPr>
        </p:sp>
        <p:sp>
          <p:nvSpPr>
            <p:cNvPr id="20" name="Text 12"/>
            <p:cNvSpPr/>
            <p:nvPr/>
          </p:nvSpPr>
          <p:spPr>
            <a:xfrm>
              <a:off x="5911810" y="6087189"/>
              <a:ext cx="1627346" cy="2033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b="1" dirty="0">
                  <a:solidFill>
                    <a:srgbClr val="272525"/>
                  </a:solidFill>
                  <a:latin typeface="Inter" panose="020B0604020202020204" charset="0"/>
                  <a:ea typeface="Inter" panose="020B0604020202020204" charset="0"/>
                  <a:cs typeface="Petrona Bold" pitchFamily="34" charset="-120"/>
                </a:rPr>
                <a:t>Skill-Based Matching</a:t>
              </a: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21" name="Text 13"/>
            <p:cNvSpPr/>
            <p:nvPr/>
          </p:nvSpPr>
          <p:spPr>
            <a:xfrm>
              <a:off x="5911810" y="6331148"/>
              <a:ext cx="2806660" cy="4600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TF-IDF vectorization of skills and job descriptions; cosine similarity computation identifies top candidates.</a:t>
              </a:r>
              <a:endParaRPr lang="en-US" sz="1400" dirty="0"/>
            </a:p>
          </p:txBody>
        </p:sp>
        <p:sp>
          <p:nvSpPr>
            <p:cNvPr id="22" name="Text 14"/>
            <p:cNvSpPr/>
            <p:nvPr/>
          </p:nvSpPr>
          <p:spPr>
            <a:xfrm>
              <a:off x="8786217" y="5799415"/>
              <a:ext cx="123944" cy="154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Petrona Light" pitchFamily="34" charset="0"/>
                  <a:ea typeface="Petrona Light" pitchFamily="34" charset="-122"/>
                  <a:cs typeface="Petrona Light" pitchFamily="34" charset="-120"/>
                </a:rPr>
                <a:t>03</a:t>
              </a:r>
              <a:endParaRPr lang="en-US" sz="950" dirty="0"/>
            </a:p>
          </p:txBody>
        </p:sp>
        <p:sp>
          <p:nvSpPr>
            <p:cNvPr id="23" name="Shape 15"/>
            <p:cNvSpPr/>
            <p:nvPr/>
          </p:nvSpPr>
          <p:spPr>
            <a:xfrm>
              <a:off x="8786217" y="5994797"/>
              <a:ext cx="2806660" cy="15240"/>
            </a:xfrm>
            <a:prstGeom prst="rect">
              <a:avLst/>
            </a:prstGeom>
            <a:solidFill>
              <a:srgbClr val="007EBD"/>
            </a:solidFill>
            <a:ln/>
          </p:spPr>
        </p:sp>
        <p:sp>
          <p:nvSpPr>
            <p:cNvPr id="24" name="Text 16"/>
            <p:cNvSpPr/>
            <p:nvPr/>
          </p:nvSpPr>
          <p:spPr>
            <a:xfrm>
              <a:off x="8786217" y="6087189"/>
              <a:ext cx="1734145" cy="2033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Trust Score Integration</a:t>
              </a:r>
              <a:endParaRPr lang="en-US" dirty="0"/>
            </a:p>
          </p:txBody>
        </p:sp>
        <p:sp>
          <p:nvSpPr>
            <p:cNvPr id="25" name="Text 17"/>
            <p:cNvSpPr/>
            <p:nvPr/>
          </p:nvSpPr>
          <p:spPr>
            <a:xfrm>
              <a:off x="8786217" y="6331148"/>
              <a:ext cx="2806660" cy="4600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Historical performance, completion rates, and feedback ratings generate dynamic trust scores (0-100 scale).</a:t>
              </a:r>
              <a:endParaRPr lang="en-US" sz="1400" dirty="0"/>
            </a:p>
          </p:txBody>
        </p:sp>
        <p:sp>
          <p:nvSpPr>
            <p:cNvPr id="26" name="Text 18"/>
            <p:cNvSpPr/>
            <p:nvPr/>
          </p:nvSpPr>
          <p:spPr>
            <a:xfrm>
              <a:off x="3037403" y="6951940"/>
              <a:ext cx="123944" cy="154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Petrona Light" pitchFamily="34" charset="0"/>
                  <a:ea typeface="Petrona Light" pitchFamily="34" charset="-122"/>
                  <a:cs typeface="Petrona Light" pitchFamily="34" charset="-120"/>
                </a:rPr>
                <a:t>04</a:t>
              </a:r>
              <a:endParaRPr lang="en-US" sz="950" dirty="0"/>
            </a:p>
          </p:txBody>
        </p:sp>
        <p:sp>
          <p:nvSpPr>
            <p:cNvPr id="27" name="Shape 19"/>
            <p:cNvSpPr/>
            <p:nvPr/>
          </p:nvSpPr>
          <p:spPr>
            <a:xfrm>
              <a:off x="3037403" y="7147322"/>
              <a:ext cx="4243864" cy="15240"/>
            </a:xfrm>
            <a:prstGeom prst="rect">
              <a:avLst/>
            </a:prstGeom>
            <a:solidFill>
              <a:srgbClr val="007EBD"/>
            </a:solidFill>
            <a:ln/>
          </p:spPr>
        </p:sp>
        <p:sp>
          <p:nvSpPr>
            <p:cNvPr id="28" name="Text 20"/>
            <p:cNvSpPr/>
            <p:nvPr/>
          </p:nvSpPr>
          <p:spPr>
            <a:xfrm>
              <a:off x="3037403" y="7239714"/>
              <a:ext cx="1818084" cy="2033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Geospatial Optimization</a:t>
              </a:r>
              <a:endParaRPr lang="en-US" dirty="0"/>
            </a:p>
          </p:txBody>
        </p:sp>
        <p:sp>
          <p:nvSpPr>
            <p:cNvPr id="29" name="Text 21"/>
            <p:cNvSpPr/>
            <p:nvPr/>
          </p:nvSpPr>
          <p:spPr>
            <a:xfrm>
              <a:off x="3037403" y="7483673"/>
              <a:ext cx="4243864" cy="306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Haversine formula calculates worker-job distances; prioritizes proximity while maintaining skill match quality.</a:t>
              </a:r>
              <a:endParaRPr lang="en-US" sz="1400" dirty="0"/>
            </a:p>
          </p:txBody>
        </p:sp>
        <p:sp>
          <p:nvSpPr>
            <p:cNvPr id="30" name="Text 22"/>
            <p:cNvSpPr/>
            <p:nvPr/>
          </p:nvSpPr>
          <p:spPr>
            <a:xfrm>
              <a:off x="7349014" y="6951940"/>
              <a:ext cx="123944" cy="154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Petrona Light" pitchFamily="34" charset="0"/>
                  <a:ea typeface="Petrona Light" pitchFamily="34" charset="-122"/>
                  <a:cs typeface="Petrona Light" pitchFamily="34" charset="-120"/>
                </a:rPr>
                <a:t>05</a:t>
              </a:r>
              <a:endParaRPr lang="en-US" sz="950" dirty="0"/>
            </a:p>
          </p:txBody>
        </p:sp>
        <p:sp>
          <p:nvSpPr>
            <p:cNvPr id="31" name="Shape 23"/>
            <p:cNvSpPr/>
            <p:nvPr/>
          </p:nvSpPr>
          <p:spPr>
            <a:xfrm>
              <a:off x="7349014" y="7147322"/>
              <a:ext cx="4243864" cy="15240"/>
            </a:xfrm>
            <a:prstGeom prst="rect">
              <a:avLst/>
            </a:prstGeom>
            <a:solidFill>
              <a:srgbClr val="007EBD"/>
            </a:solidFill>
            <a:ln/>
          </p:spPr>
        </p:sp>
        <p:sp>
          <p:nvSpPr>
            <p:cNvPr id="32" name="Text 24"/>
            <p:cNvSpPr/>
            <p:nvPr/>
          </p:nvSpPr>
          <p:spPr>
            <a:xfrm>
              <a:off x="7349014" y="7239714"/>
              <a:ext cx="1645325" cy="2033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Fraud Detection Layer</a:t>
              </a:r>
              <a:endParaRPr lang="en-US" dirty="0"/>
            </a:p>
          </p:txBody>
        </p:sp>
        <p:sp>
          <p:nvSpPr>
            <p:cNvPr id="33" name="Text 25"/>
            <p:cNvSpPr/>
            <p:nvPr/>
          </p:nvSpPr>
          <p:spPr>
            <a:xfrm>
              <a:off x="7349014" y="7483673"/>
              <a:ext cx="4243864" cy="306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Isolation Forest algorithm analyzes behavior patterns; flags anomalies in job applications and worker conduct.</a:t>
              </a:r>
              <a:endParaRPr lang="en-US" sz="1400" dirty="0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3363B61C-A270-ADCD-B8E7-7CA094FC7C5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27793" y="1123592"/>
            <a:ext cx="7972376" cy="364873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920412" y="946913"/>
            <a:ext cx="4505801" cy="406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  <a:cs typeface="Petrona Bold" pitchFamily="34" charset="-120"/>
              </a:rPr>
              <a:t>Proposed System Architecture</a:t>
            </a:r>
            <a:endParaRPr lang="en-US" sz="32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6C6C9D0-8F72-870F-4E71-0A07E338729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846205" y="7690746"/>
            <a:ext cx="1784195" cy="506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6018" y="410408"/>
            <a:ext cx="7504748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Performance Metrics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018" y="1052393"/>
            <a:ext cx="9778365" cy="50771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02110" y="3157497"/>
            <a:ext cx="1206646" cy="85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0401" y="2398818"/>
            <a:ext cx="245552" cy="2455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57432" y="2100173"/>
            <a:ext cx="2114045" cy="28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Mobile App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2657432" y="2462468"/>
            <a:ext cx="2114045" cy="528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&amp; employer interfaces for hiring and tasks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858697" y="2100173"/>
            <a:ext cx="2114045" cy="28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 Server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858697" y="2462468"/>
            <a:ext cx="2114045" cy="352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gateway and business logic layer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6467" y="1877547"/>
            <a:ext cx="245553" cy="24555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56701" y="4503209"/>
            <a:ext cx="245552" cy="2455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57432" y="4359015"/>
            <a:ext cx="2114045" cy="28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2657432" y="4721310"/>
            <a:ext cx="2114045" cy="35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profiles, jobs, and transactions store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858697" y="4359015"/>
            <a:ext cx="2114045" cy="28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Module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9858697" y="4721310"/>
            <a:ext cx="2114045" cy="35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Recommendations, trust scoring, fraud detection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87798" y="5304422"/>
            <a:ext cx="245552" cy="2455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426018" y="6262330"/>
            <a:ext cx="2231946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Results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2426018" y="6744891"/>
            <a:ext cx="2361605" cy="46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85% - 90%</a:t>
            </a:r>
            <a:endParaRPr lang="en-US" sz="3650" dirty="0"/>
          </a:p>
        </p:txBody>
      </p:sp>
      <p:sp>
        <p:nvSpPr>
          <p:cNvPr id="19" name="Text 12"/>
          <p:cNvSpPr/>
          <p:nvPr/>
        </p:nvSpPr>
        <p:spPr>
          <a:xfrm>
            <a:off x="2676763" y="7349609"/>
            <a:ext cx="1859994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Matching Accuracy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2426018" y="7635121"/>
            <a:ext cx="2361605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Skill-job alignment precision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898231" y="6744891"/>
            <a:ext cx="2361605" cy="46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~0.86</a:t>
            </a:r>
            <a:endParaRPr lang="en-US" sz="3650" dirty="0"/>
          </a:p>
        </p:txBody>
      </p:sp>
      <p:sp>
        <p:nvSpPr>
          <p:cNvPr id="22" name="Text 15"/>
          <p:cNvSpPr/>
          <p:nvPr/>
        </p:nvSpPr>
        <p:spPr>
          <a:xfrm>
            <a:off x="5148977" y="7349609"/>
            <a:ext cx="1859994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Precision Score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898231" y="7635121"/>
            <a:ext cx="2361605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relevance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370445" y="6744891"/>
            <a:ext cx="2361605" cy="46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0.85 – 0.90</a:t>
            </a:r>
            <a:endParaRPr lang="en-US" sz="3650" dirty="0"/>
          </a:p>
        </p:txBody>
      </p:sp>
      <p:sp>
        <p:nvSpPr>
          <p:cNvPr id="25" name="Text 18"/>
          <p:cNvSpPr/>
          <p:nvPr/>
        </p:nvSpPr>
        <p:spPr>
          <a:xfrm>
            <a:off x="7621191" y="7349609"/>
            <a:ext cx="1859994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Fraud Detection AUC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70445" y="7635121"/>
            <a:ext cx="2361605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identification rate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9842659" y="6744891"/>
            <a:ext cx="2361724" cy="46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15% - 20%</a:t>
            </a:r>
            <a:endParaRPr lang="en-US" sz="3650" dirty="0"/>
          </a:p>
        </p:txBody>
      </p:sp>
      <p:sp>
        <p:nvSpPr>
          <p:cNvPr id="28" name="Text 21"/>
          <p:cNvSpPr/>
          <p:nvPr/>
        </p:nvSpPr>
        <p:spPr>
          <a:xfrm>
            <a:off x="10093523" y="7349609"/>
            <a:ext cx="1859994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Efficiency Gain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842659" y="7635121"/>
            <a:ext cx="2361724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Allocation optimization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01A6C7E-B610-06CF-D568-110B403A2E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5331" y="875347"/>
            <a:ext cx="10560204" cy="538698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0E484AE-4AB9-5ECA-012D-58594265B0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6017" y="1078945"/>
            <a:ext cx="10179051" cy="512010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011A2D4-D7EF-4D46-9171-E3AD4F1C84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39234" y="7635120"/>
            <a:ext cx="1991166" cy="5657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2333" y="1508998"/>
            <a:ext cx="4292679" cy="536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572333" y="2222302"/>
            <a:ext cx="2587823" cy="2640449"/>
          </a:xfrm>
          <a:prstGeom prst="roundRect">
            <a:avLst>
              <a:gd name="adj" fmla="val 265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3426" y="2393394"/>
            <a:ext cx="490538" cy="490538"/>
          </a:xfrm>
          <a:prstGeom prst="roundRect">
            <a:avLst>
              <a:gd name="adj" fmla="val 18638894"/>
            </a:avLst>
          </a:prstGeom>
          <a:solidFill>
            <a:srgbClr val="007EB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324" y="2528173"/>
            <a:ext cx="220742" cy="2207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426" y="3001804"/>
            <a:ext cx="2146340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Trust Integration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43426" y="3340775"/>
            <a:ext cx="2245638" cy="135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combines multi-dimensional trust scoring with intelligent recommendation algorithms for reliable worker-employer matching.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278029" y="2222302"/>
            <a:ext cx="2587823" cy="2640449"/>
          </a:xfrm>
          <a:prstGeom prst="roundRect">
            <a:avLst>
              <a:gd name="adj" fmla="val 265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49122" y="2393394"/>
            <a:ext cx="490538" cy="490538"/>
          </a:xfrm>
          <a:prstGeom prst="roundRect">
            <a:avLst>
              <a:gd name="adj" fmla="val 18638894"/>
            </a:avLst>
          </a:prstGeom>
          <a:solidFill>
            <a:srgbClr val="007EB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4019" y="2528173"/>
            <a:ext cx="220742" cy="2207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49122" y="3001804"/>
            <a:ext cx="2174558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Geospatial Innovation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3449122" y="3340775"/>
            <a:ext cx="2245638" cy="11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Haversine-based proximity optimization reduces travel time and improves job accessibility for informal workforce populations.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983724" y="2222302"/>
            <a:ext cx="2587943" cy="2640449"/>
          </a:xfrm>
          <a:prstGeom prst="roundRect">
            <a:avLst>
              <a:gd name="adj" fmla="val 265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54817" y="2393394"/>
            <a:ext cx="490538" cy="490538"/>
          </a:xfrm>
          <a:prstGeom prst="roundRect">
            <a:avLst>
              <a:gd name="adj" fmla="val 18638894"/>
            </a:avLst>
          </a:prstGeom>
          <a:solidFill>
            <a:srgbClr val="007EB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9715" y="2528173"/>
            <a:ext cx="220742" cy="2207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54817" y="3001804"/>
            <a:ext cx="2146340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Measurable Impact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154817" y="3340775"/>
            <a:ext cx="2245757" cy="11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 87% matching accuracy and 18% efficiency improvement, validating the platform's effectiveness in real-world scenarios.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72333" y="4980623"/>
            <a:ext cx="7999333" cy="1739860"/>
          </a:xfrm>
          <a:prstGeom prst="roundRect">
            <a:avLst>
              <a:gd name="adj" fmla="val 394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43426" y="5151715"/>
            <a:ext cx="490538" cy="490538"/>
          </a:xfrm>
          <a:prstGeom prst="roundRect">
            <a:avLst>
              <a:gd name="adj" fmla="val 18638894"/>
            </a:avLst>
          </a:prstGeom>
          <a:solidFill>
            <a:srgbClr val="007EBD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324" y="5286494"/>
            <a:ext cx="220742" cy="22074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3426" y="5760125"/>
            <a:ext cx="2146340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Scalable Solution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743426" y="6099096"/>
            <a:ext cx="7657148" cy="45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architecture enables expansion across diverse informal sectors while maintaining performance and security standards.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014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338030"/>
            <a:ext cx="13042821" cy="475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C. Upadhyay, H. Abu-Rasheed, C. Weber and M. Fathi, "Explainable Job-Posting Recommendations Using Knowledge Graphs and Named Entity Recognition," 2021 IEEE International Conference on Systems, Man, and Cybernetics (SMC), Melbourne, Australia, 2021, pp. 3291-3296, </a:t>
            </a:r>
            <a:r>
              <a:rPr lang="en-IN" sz="1600" dirty="0" err="1">
                <a:latin typeface="Inter" panose="020B0604020202020204" charset="0"/>
                <a:ea typeface="Inter" panose="020B0604020202020204" charset="0"/>
              </a:rPr>
              <a:t>doi</a:t>
            </a: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: 10.1109/SMC52423.2021.9658757 </a:t>
            </a:r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H. Miao et al., "Task Assignment With Efficient Federated Preference Learning in Spatial Crowdsourcing," in IEEE Transactions on Knowledge and Data Engineering, vol. 36, no. 4, pp. 1800-1814, April 2024, doi.org/10.1109/TKDE.2023.3311816 </a:t>
            </a:r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H. Xu, G. Pang, Y. Wang and Y. Wang, "Deep Isolation Forest for Anomaly Detection," in IEEE Transactions on Knowledge and Data Engineering, vol. 35, no. 12, pp. 12591-12604, 1 Dec. 2023, </a:t>
            </a:r>
            <a:r>
              <a:rPr lang="en-IN" sz="1600" dirty="0" err="1">
                <a:latin typeface="Inter" panose="020B0604020202020204" charset="0"/>
                <a:ea typeface="Inter" panose="020B0604020202020204" charset="0"/>
              </a:rPr>
              <a:t>doi</a:t>
            </a: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: 10.1109/TKDE.2023.3270293. </a:t>
            </a:r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P. Singla and V. Verma, "A Hybrid Approach for Job Recommendation Systems," 2024 15th International Conference on Computing Communication and Networking Technologies (ICCCNT), Kamand, India, 2024, pp. 1-5, </a:t>
            </a:r>
            <a:r>
              <a:rPr lang="en-IN" sz="1600" dirty="0" err="1">
                <a:latin typeface="Inter" panose="020B0604020202020204" charset="0"/>
                <a:ea typeface="Inter" panose="020B0604020202020204" charset="0"/>
              </a:rPr>
              <a:t>doi</a:t>
            </a: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: 10.1109/ICCCNT61001.2024.10725124 </a:t>
            </a:r>
          </a:p>
          <a:p>
            <a:pPr marL="342900" indent="-342900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M. M. Rahman, M. M. Hasan, M. M. Rahman, M. K. R. Farhad, M. M. Billah and N. Ullah, "Decentralised Reputation Tracking using </a:t>
            </a:r>
            <a:r>
              <a:rPr lang="en-IN" sz="1600" dirty="0" err="1">
                <a:latin typeface="Inter" panose="020B0604020202020204" charset="0"/>
                <a:ea typeface="Inter" panose="020B0604020202020204" charset="0"/>
              </a:rPr>
              <a:t>TinyML</a:t>
            </a: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 for Task Recommendation in Spatial Crowdsourcing," 2025 IEEE 7th Symposium on Computers &amp; Informatics (ISCI), Kuala Lumpur, Malaysia, 2025, pp. 268- 273, </a:t>
            </a:r>
            <a:r>
              <a:rPr lang="en-IN" sz="1600" dirty="0" err="1">
                <a:latin typeface="Inter" panose="020B0604020202020204" charset="0"/>
                <a:ea typeface="Inter" panose="020B0604020202020204" charset="0"/>
              </a:rPr>
              <a:t>doi</a:t>
            </a:r>
            <a:r>
              <a:rPr lang="en-IN" sz="1600" dirty="0">
                <a:latin typeface="Inter" panose="020B0604020202020204" charset="0"/>
                <a:ea typeface="Inter" panose="020B0604020202020204" charset="0"/>
              </a:rPr>
              <a:t>: 10.1109/ISCI65687.2025.11167386</a:t>
            </a:r>
            <a:endParaRPr lang="en-US" sz="175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9D1E5-F430-84F2-24A2-A78F24A27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965" y="7261776"/>
            <a:ext cx="3406435" cy="9678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1054</Words>
  <Application>Microsoft Office PowerPoint</Application>
  <PresentationFormat>Custom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Garamond</vt:lpstr>
      <vt:lpstr>Petrona Light</vt:lpstr>
      <vt:lpstr>Inter</vt:lpstr>
      <vt:lpstr>Times New Roman</vt:lpstr>
      <vt:lpstr>Arial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Darshan S G</cp:lastModifiedBy>
  <cp:revision>12</cp:revision>
  <dcterms:created xsi:type="dcterms:W3CDTF">2026-02-23T12:02:28Z</dcterms:created>
  <dcterms:modified xsi:type="dcterms:W3CDTF">2026-02-23T12:52:19Z</dcterms:modified>
</cp:coreProperties>
</file>